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SUPERSTORE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31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Sales Growth Translate Into Profit?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Discount-Driven Profitability Analysis  |  2011–2014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411480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51,290 orders  •  Python / Pandas / Seaborn / Plotly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Amin Reda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881360" cy="13716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173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are growing strongly across markets — but is that growth translating into proportional profit? Or are specific products, markets, and customers quietly losing the company money?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ANALYTICAL QUESTIONS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3429000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discount level beyond which orders stop being profitable?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42232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414223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generate high sales but negative profitability?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55464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4855464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markets underperform — and is it a product issue or a pricing issue?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568696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5568696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drive the majority of revenue, and who is at risk of churn?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51460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51,290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51460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37560" y="15087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1,590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1460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035040" y="15087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Years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 – 2014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732520" y="1371600"/>
            <a:ext cx="251460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732520" y="15087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73252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Columns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108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VARIABLES USED IN THIS ANALYSIS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20440"/>
          <a:ext cx="10881360" cy="2377440"/>
        </p:xfrm>
        <a:graphic>
          <a:graphicData uri="http://schemas.openxmlformats.org/drawingml/2006/table">
            <a:tbl>
              <a:tblPr/>
              <a:tblGrid>
                <a:gridCol w="3840480"/>
                <a:gridCol w="2286000"/>
                <a:gridCol w="4754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/ Profit / Discount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financial variables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8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/ Sub-Category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categories, 17 sub-categories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/ Region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global markets, 13 regions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7F8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Date / Ship Date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formats — parsed &amp; validated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3898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Date Formats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80136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Order/Ship dates used both '/' and '-' separators. Parsed with dayfirst logic, then validated.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33472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6334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5603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Validation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971800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Asserted Ship Date ≥ Order Date across all 51,290 rows — 0 violations confirmed the parsing was correct.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03904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8039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73075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142232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'Processing Time' (days) — cross-checked against Order Priority for consistency.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974336"/>
            <a:ext cx="411480" cy="41148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9743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90118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Pruning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5312664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Postal Code (80% missing) and Row ID (identifier only, no analytical value).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989320"/>
            <a:ext cx="10881360" cy="50292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5989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(df['Ship Date'] &gt;= df['Order Date']).all()</a:t>
            </a:r>
            <a:pPr indent="0" marL="0">
              <a:buNone/>
            </a:pPr>
            <a:r>
              <a:rPr lang="en-US" sz="11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←  validation, not assumption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Dashboard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2514600" cy="1234440"/>
          </a:xfrm>
          <a:prstGeom prst="rect">
            <a:avLst/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$12.6M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337560" y="1188720"/>
            <a:ext cx="2514600" cy="1234440"/>
          </a:xfrm>
          <a:prstGeom prst="rect">
            <a:avLst/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37560" y="129844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$1.47M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1920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514600" cy="1234440"/>
          </a:xfrm>
          <a:prstGeom prst="rect">
            <a:avLst/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29844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11.6%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920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Margin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732520" y="1188720"/>
            <a:ext cx="2514600" cy="1234440"/>
          </a:xfrm>
          <a:prstGeom prst="rect">
            <a:avLst/>
          </a:prstGeom>
          <a:solidFill>
            <a:srgbClr val="F7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1298448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$505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732520" y="192024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2697480"/>
            <a:ext cx="10881360" cy="1051560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2788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22.1% of all orders are discounted above 20%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2004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impact: –$814,682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38160" y="269748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89.9%</a:t>
            </a:r>
            <a:endParaRPr lang="en-US" sz="34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3337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those orders lose money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977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BY CATEGORY</a:t>
            </a:r>
            <a:endParaRPr lang="en-US" sz="1200" dirty="0"/>
          </a:p>
        </p:txBody>
      </p:sp>
      <p:pic>
        <p:nvPicPr>
          <p:cNvPr id="21" name="Image 0" descr="/home/claude/pptx_build/s_category_mar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297680"/>
            <a:ext cx="5394960" cy="2103120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6309360" y="39776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BY MARKET</a:t>
            </a:r>
            <a:endParaRPr lang="en-US" sz="1200" dirty="0"/>
          </a:p>
        </p:txBody>
      </p:sp>
      <p:pic>
        <p:nvPicPr>
          <p:cNvPr id="23" name="Image 1" descr="/home/claude/pptx_build/s_market_mar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297680"/>
            <a:ext cx="5394960" cy="21031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Discount Breaking Point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profit per order turns negative once discount passes ~20% — and keeps falling</a:t>
            </a:r>
            <a:endParaRPr lang="en-US" sz="1400" dirty="0"/>
          </a:p>
        </p:txBody>
      </p:sp>
      <p:pic>
        <p:nvPicPr>
          <p:cNvPr id="4" name="Image 0" descr="/home/claude/pptx_build/s_disc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73152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0" y="1600200"/>
            <a:ext cx="3291840" cy="4206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50392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503920" y="226771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732520" y="2121408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parsing validated with 0 logical violations across 51,290 rows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03920" y="301752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32520" y="2871216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318–29,009 orders per discount bucket — no small-sample noise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503920" y="3767328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32520" y="3621024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10 Tables orders = only 29% of total Tables loss → not driven by a few outliers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503920" y="451713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732520" y="4370832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Correlation: –0.316 (moderate, consistent across markets)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Root Cause, Two Places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303520" cy="45720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PRODUCT-LEVEL: TABLES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8288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–$64,083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loss, despite $757K in sales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26080"/>
          <a:ext cx="4754880" cy="2651760"/>
        </p:xfrm>
        <a:graphic>
          <a:graphicData uri="http://schemas.openxmlformats.org/drawingml/2006/table">
            <a:tbl>
              <a:tblPr/>
              <a:tblGrid>
                <a:gridCol w="1828800"/>
                <a:gridCol w="1463040"/>
                <a:gridCol w="14630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Disc.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–19.9%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627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–8.9%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A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CA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17920" y="1280160"/>
            <a:ext cx="5303520" cy="457200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92240" y="14630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MARKET-LEVEL: EMEA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18288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7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5.4%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423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market margin (vs. ~11–13% elsewhere)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926080"/>
          <a:ext cx="4754880" cy="173736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 (EMEA)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Furniture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Supplies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6492240" y="47091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categories underperform uniformly → not a product issue, a pricing policy issue. EMEA avg. discount: 19.6% vs. 14.3% company-wide.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Actually Drives Revenue?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segmentation — Recency, Frequency, Monetary — across 1,590 customers</a:t>
            </a:r>
            <a:endParaRPr lang="en-US" sz="1400" dirty="0"/>
          </a:p>
        </p:txBody>
      </p:sp>
      <p:pic>
        <p:nvPicPr>
          <p:cNvPr id="4" name="Image 0" descr="/home/claude/pptx_build/s_rfm_reven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76072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80644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total revenue contributed by each RFM segment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583680" y="1508760"/>
            <a:ext cx="493776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812280" y="1627632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43.3%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16459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 just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21.8% of customers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(“Champions”)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3108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HYPOTHESIS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34290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discounting explain why “At Risk (High Value)” customers are disengaging?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83680" y="4160520"/>
            <a:ext cx="4754880" cy="12801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12280" y="4297680"/>
            <a:ext cx="4297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Refuted. This segment received the LOWEST average discount (13.3%) of any segment — the cause lies elsewhere and needs further investigation.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86868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591056"/>
            <a:ext cx="438912" cy="43891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59105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371600"/>
            <a:ext cx="9738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discounting above 20% is the root cause of the company's weakest profitability points.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340864"/>
            <a:ext cx="10881360" cy="86868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560320"/>
            <a:ext cx="438912" cy="43891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5603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340864"/>
            <a:ext cx="9738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loses money specifically where discount exceeds 25–30% — the same product is profitable elsewhere.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310128"/>
            <a:ext cx="10881360" cy="86868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529584"/>
            <a:ext cx="438912" cy="438912"/>
          </a:xfrm>
          <a:prstGeom prst="ellipse">
            <a:avLst/>
          </a:prstGeom>
          <a:solidFill>
            <a:srgbClr val="D6272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529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10128"/>
            <a:ext cx="9738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EMEA underperforms systemically across all categories due to a higher baseline discount rate.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279392"/>
            <a:ext cx="10881360" cy="86868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498848"/>
            <a:ext cx="438912" cy="438912"/>
          </a:xfrm>
          <a:prstGeom prst="ellipse">
            <a:avLst/>
          </a:prstGeom>
          <a:solidFill>
            <a:srgbClr val="2CA0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4988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279392"/>
            <a:ext cx="9738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growth is healthy (23.9% CAGR) with a stable ~11–12% margin — issues are localized, not systemic.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248656"/>
            <a:ext cx="10881360" cy="86868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5468112"/>
            <a:ext cx="438912" cy="438912"/>
          </a:xfrm>
          <a:prstGeom prst="ellipse">
            <a:avLst/>
          </a:prstGeom>
          <a:solidFill>
            <a:srgbClr val="5A5F7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468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248656"/>
            <a:ext cx="9738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Mode and Processing Time were tested and ruled out as profitability drivers (correlation ≈ 0).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48132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20% discount cap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190195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approval workflow for exceptions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3716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share of –$814,682 annual loss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0287000" y="1737360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D6272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287000" y="173736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2578608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68833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cap on Tables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1089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≤ 20% specifically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578608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–$64,083 to net positive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287000" y="2944368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D6272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287000" y="294436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40080" y="3785616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895344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EMEA pricing policy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31596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against EU (10.3% avg. discount)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785616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5–7 point margin gain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287000" y="4151376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D8961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287000" y="4151376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40080" y="4992624"/>
            <a:ext cx="10881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102352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growth strategy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5522976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changes needed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4992624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23.9% CAGR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287000" y="5358384"/>
            <a:ext cx="1051560" cy="365760"/>
          </a:xfrm>
          <a:prstGeom prst="roundRect">
            <a:avLst>
              <a:gd name="adj" fmla="val 15000"/>
            </a:avLst>
          </a:prstGeom>
          <a:solidFill>
            <a:srgbClr val="2CA0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287000" y="535838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1907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43000" y="1508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healthy — but not every part of the business is profitable at the same rate.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58775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3774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Uncontrolled discounting is the single root cause behind the weakest points: Tables, EMEA, and high-discount order clusters broadly.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456432"/>
            <a:ext cx="109728" cy="1097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324612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fixes are specific and actionable — not generic advice — at the product, market, and customer level.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663440"/>
            <a:ext cx="10515600" cy="1371600"/>
          </a:xfrm>
          <a:prstGeom prst="rect">
            <a:avLst/>
          </a:prstGeom>
          <a:solidFill>
            <a:srgbClr val="1620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97280" y="480060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Implementing these recommendations could recover a significant share of the company's annual discount-driven losses — without slowing sales growth.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2026-09-19T12:37:04Z</dcterms:created>
  <dcterms:modified xsi:type="dcterms:W3CDTF">2026-09-19T12:37:04Z</dcterms:modified>
</cp:coreProperties>
</file>